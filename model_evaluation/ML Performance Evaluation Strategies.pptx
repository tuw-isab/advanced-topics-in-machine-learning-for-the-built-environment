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21cb68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21cb68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a21cb68a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a21cb68a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a21cb68a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a21cb68a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21cb68a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a21cb68a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a21cb68a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a21cb68a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21cb68a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a21cb68a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21cb68a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a21cb68a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a21cb68a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a21cb68a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a21cb68a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a21cb68a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a21cb68a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a21cb68a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21cb68a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a21cb68a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a21cb68a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a21cb68a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a21cb68a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a21cb68a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21cb68a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a21cb68a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21cb68a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a21cb68a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a21cb68a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a21cb68a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a21cb68a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a21cb68a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21cb68a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a21cb68a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21cb68a9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a21cb68a9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a21cb68a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a21cb68a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21cb68a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a21cb68a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a21cb68a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a21cb68a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a21cb68a9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a21cb68a9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a21cb68a9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a21cb68a9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a21cb68a9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a21cb68a9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a21cb68a9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a21cb68a9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a21cb68a9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a21cb68a9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a21cb68a9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a21cb68a9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a21cb68a9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a21cb68a9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a21cb68a9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a21cb68a9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a21cb68a9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aa21cb68a9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a21cb68a9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a21cb68a9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a21cb68a9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a21cb68a9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a21cb68a9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a21cb68a9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a21cb68a9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a21cb68a9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a21cb68a9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aa21cb68a9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a4eeeec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a4eeeec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a4eeeece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a4eeeece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a4eeeece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a4eeeece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a4eeeece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a4eeeece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a4eeeece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a4eeeece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a4eeeece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aa4eeeece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a4eeeece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a4eeeece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a4eeeece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aa4eeeece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a4eeeece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a4eeeece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a4eeeece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aa4eeeece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a4eeeece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aa4eeeece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aa4eeeece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aa4eeeece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Performance Evaluation Strategies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Some Measurements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X is our feature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Y is what we want to predict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Train a model that predicts Y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863" y="788113"/>
            <a:ext cx="5324475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Linear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Some regression performance metrics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058" y="1720425"/>
            <a:ext cx="7173200" cy="160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050" y="3973532"/>
            <a:ext cx="6932150" cy="10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Linear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…sucks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MAE = 0.42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MSE = 0.23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R2 = 0.47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0438" y="868650"/>
            <a:ext cx="551497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More complex model!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50" y="1828950"/>
            <a:ext cx="8636200" cy="3045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Polynomial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Degree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MAE = 0.15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MSE = 0.03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R2 = 0.93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963" y="904988"/>
            <a:ext cx="5514975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Polynomial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Degree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MAE = 0.08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MSE = 0.01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R2 = 0.97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0438" y="843325"/>
            <a:ext cx="551497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Polynomial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Degree 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MAE = 0.05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MSE = 0.00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R2 = 0.99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0038" y="830675"/>
            <a:ext cx="551497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We get new measurements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7500" y="1017713"/>
            <a:ext cx="5353050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We get new measurements</a:t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7500" y="1017713"/>
            <a:ext cx="5353050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Our best model from before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MAE = 1.74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MSE = 50.83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R2 = -98.13</a:t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4800" y="988850"/>
            <a:ext cx="539115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Our best model from before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Zoom in a bit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MAE = 1.74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MSE = 50.83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R2 = -98.13</a:t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988" y="980725"/>
            <a:ext cx="5381625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Our best model from before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Zoom in a bit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MAE = 1.74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MSE = 50.83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R2 = -98.13</a:t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988" y="980725"/>
            <a:ext cx="5381625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What we normally </a:t>
            </a:r>
            <a:r>
              <a:rPr lang="en-GB"/>
              <a:t>can't</a:t>
            </a:r>
            <a:r>
              <a:rPr lang="en-GB"/>
              <a:t> see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function we learned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function we wanted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Polynomial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Degree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8738" y="922650"/>
            <a:ext cx="5381625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What we normally can't see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function we learned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function we wanted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Polynomial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Degree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3413" y="1017725"/>
            <a:ext cx="5381625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Overfitting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What we normally can't see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function we learned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function we wanted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Polynomial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Degree 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2363" y="1017725"/>
            <a:ext cx="5381625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problems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 of distribution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Again, reality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We get new measurements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They go beyond the values</a:t>
            </a:r>
            <a:br>
              <a:rPr lang="en-GB"/>
            </a:br>
            <a:r>
              <a:rPr lang="en-GB"/>
              <a:t>f</a:t>
            </a:r>
            <a:r>
              <a:rPr lang="en-GB"/>
              <a:t>ound in the training 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0950" y="893750"/>
            <a:ext cx="5353050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 of distribution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Best model we saw in our</a:t>
            </a:r>
            <a:br>
              <a:rPr lang="en-GB"/>
            </a:br>
            <a:r>
              <a:rPr lang="en-GB"/>
              <a:t>Vizualisation above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Polynomial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Degree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MAE = 0.38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MSE = 0.54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R2 = 0.01</a:t>
            </a:r>
            <a:endParaRPr/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7288" y="1017713"/>
            <a:ext cx="5229225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 of distribution</a:t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What we normally can't see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function we learned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 function we wanted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Polynomial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Degree 4</a:t>
            </a:r>
            <a:endParaRPr/>
          </a:p>
        </p:txBody>
      </p:sp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7625" y="1017713"/>
            <a:ext cx="5200650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Ideas on how to measure model performance</a:t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Train-Test Split</a:t>
            </a:r>
            <a:endParaRPr/>
          </a:p>
        </p:txBody>
      </p:sp>
      <p:sp>
        <p:nvSpPr>
          <p:cNvPr id="200" name="Google Shape;20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Split the whole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Train on one part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Evaluate</a:t>
            </a:r>
            <a:r>
              <a:rPr lang="en-GB"/>
              <a:t> on the other</a:t>
            </a:r>
            <a:endParaRPr/>
          </a:p>
        </p:txBody>
      </p:sp>
      <p:pic>
        <p:nvPicPr>
          <p:cNvPr id="201" name="Google Shape;20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50" y="2571750"/>
            <a:ext cx="8267899" cy="20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Train-Test Split - Problems</a:t>
            </a:r>
            <a:endParaRPr/>
          </a:p>
        </p:txBody>
      </p:sp>
      <p:sp>
        <p:nvSpPr>
          <p:cNvPr id="207" name="Google Shape;20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Train-Test Split - Problems</a:t>
            </a:r>
            <a:endParaRPr/>
          </a:p>
        </p:txBody>
      </p:sp>
      <p:sp>
        <p:nvSpPr>
          <p:cNvPr id="213" name="Google Shape;21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Order</a:t>
            </a:r>
            <a:endParaRPr/>
          </a:p>
        </p:txBody>
      </p:sp>
      <p:pic>
        <p:nvPicPr>
          <p:cNvPr id="214" name="Google Shape;21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50" y="2571750"/>
            <a:ext cx="8267899" cy="201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6"/>
          <p:cNvSpPr/>
          <p:nvPr/>
        </p:nvSpPr>
        <p:spPr>
          <a:xfrm>
            <a:off x="822450" y="2110250"/>
            <a:ext cx="2695200" cy="572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cats</a:t>
            </a:r>
            <a:endParaRPr/>
          </a:p>
        </p:txBody>
      </p:sp>
      <p:sp>
        <p:nvSpPr>
          <p:cNvPr id="216" name="Google Shape;216;p36"/>
          <p:cNvSpPr/>
          <p:nvPr/>
        </p:nvSpPr>
        <p:spPr>
          <a:xfrm>
            <a:off x="3517725" y="2110250"/>
            <a:ext cx="2752200" cy="572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dogs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Train-Test Split - Problems</a:t>
            </a:r>
            <a:endParaRPr/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Order</a:t>
            </a:r>
            <a:endParaRPr/>
          </a:p>
        </p:txBody>
      </p:sp>
      <p:pic>
        <p:nvPicPr>
          <p:cNvPr id="223" name="Google Shape;2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50" y="2571750"/>
            <a:ext cx="8267899" cy="201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7"/>
          <p:cNvSpPr/>
          <p:nvPr/>
        </p:nvSpPr>
        <p:spPr>
          <a:xfrm>
            <a:off x="841425" y="1935925"/>
            <a:ext cx="5358600" cy="727500"/>
          </a:xfrm>
          <a:prstGeom prst="triangle">
            <a:avLst>
              <a:gd fmla="val 99764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Housing prices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Train-Test Split - Problems</a:t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Order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Solution: Shuffle before splitting!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Train-Test Split - Problems</a:t>
            </a:r>
            <a:endParaRPr/>
          </a:p>
        </p:txBody>
      </p:sp>
      <p:sp>
        <p:nvSpPr>
          <p:cNvPr id="236" name="Google Shape;23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Order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Solution: Shuffle before splitting!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unless … Timeseries data! (more on that later)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Train-Test Split - Problems</a:t>
            </a:r>
            <a:endParaRPr/>
          </a:p>
        </p:txBody>
      </p:sp>
      <p:sp>
        <p:nvSpPr>
          <p:cNvPr id="242" name="Google Shape;24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Produces a single evaluation score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Maybe test set ended up being “easy” by chance?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Ideas on how to get more confident in results?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Repeated shuffled train test split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Repeat the shuffling and train test splitting?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Provides more performance measurements.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Repeated shuffled train test split - Problems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Some data may never be in the test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Some data may end up in multiple test 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Strong overlaps possible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Problematic for statistical significance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Computationally expensive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(N</a:t>
            </a:r>
            <a:r>
              <a:rPr lang="en-GB"/>
              <a:t>ot useful for timeseries data)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Better Ideas on how to get more confident in results?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k-Fold Cross Validation</a:t>
            </a:r>
            <a:endParaRPr/>
          </a:p>
        </p:txBody>
      </p:sp>
      <p:sp>
        <p:nvSpPr>
          <p:cNvPr id="272" name="Google Shape;272;p45"/>
          <p:cNvSpPr txBox="1"/>
          <p:nvPr>
            <p:ph idx="1" type="body"/>
          </p:nvPr>
        </p:nvSpPr>
        <p:spPr>
          <a:xfrm>
            <a:off x="311700" y="936325"/>
            <a:ext cx="85206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Split the whole dataset in k chunks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Train on n-1 parts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Evaluate on the one leftover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Repeat n times</a:t>
            </a:r>
            <a:endParaRPr/>
          </a:p>
        </p:txBody>
      </p:sp>
      <p:pic>
        <p:nvPicPr>
          <p:cNvPr id="273" name="Google Shape;27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679" y="2244450"/>
            <a:ext cx="7054775" cy="29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k-Fold Cross Validation</a:t>
            </a:r>
            <a:endParaRPr/>
          </a:p>
        </p:txBody>
      </p:sp>
      <p:sp>
        <p:nvSpPr>
          <p:cNvPr id="279" name="Google Shape;279;p46"/>
          <p:cNvSpPr txBox="1"/>
          <p:nvPr>
            <p:ph idx="1" type="body"/>
          </p:nvPr>
        </p:nvSpPr>
        <p:spPr>
          <a:xfrm>
            <a:off x="311700" y="936325"/>
            <a:ext cx="85206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Produces k scores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Widely applied in practice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Allows for limited statistical significance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If performance scores vary a lot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Model has problems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Something going on in the dataset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k-Fold Cross Validation - Problems</a:t>
            </a:r>
            <a:endParaRPr/>
          </a:p>
        </p:txBody>
      </p:sp>
      <p:sp>
        <p:nvSpPr>
          <p:cNvPr id="285" name="Google Shape;285;p47"/>
          <p:cNvSpPr txBox="1"/>
          <p:nvPr>
            <p:ph idx="1" type="body"/>
          </p:nvPr>
        </p:nvSpPr>
        <p:spPr>
          <a:xfrm>
            <a:off x="311700" y="936325"/>
            <a:ext cx="85206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Only k scores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Actually allows only for very limited statistical significance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Not useful for time series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Same problems with order as before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Series k-Fold Cross Validation</a:t>
            </a:r>
            <a:endParaRPr/>
          </a:p>
        </p:txBody>
      </p:sp>
      <p:sp>
        <p:nvSpPr>
          <p:cNvPr id="291" name="Google Shape;291;p48"/>
          <p:cNvSpPr txBox="1"/>
          <p:nvPr>
            <p:ph idx="1" type="body"/>
          </p:nvPr>
        </p:nvSpPr>
        <p:spPr>
          <a:xfrm>
            <a:off x="311700" y="936325"/>
            <a:ext cx="85206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Train on first fold, evaluate on the second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Train on first two folds, evaluate on the third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330" y="2049025"/>
            <a:ext cx="6791675" cy="294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Blocked Time Series k-Fold Cross Validation</a:t>
            </a:r>
            <a:endParaRPr/>
          </a:p>
        </p:txBody>
      </p:sp>
      <p:sp>
        <p:nvSpPr>
          <p:cNvPr id="298" name="Google Shape;298;p49"/>
          <p:cNvSpPr txBox="1"/>
          <p:nvPr>
            <p:ph idx="1" type="body"/>
          </p:nvPr>
        </p:nvSpPr>
        <p:spPr>
          <a:xfrm>
            <a:off x="311700" y="936325"/>
            <a:ext cx="85206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Train on first fold, evaluate on the second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Train on second fold, evaluate on the third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800" y="2087775"/>
            <a:ext cx="6930350" cy="28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(Blocked) Time Series k-Fold Cross Validation - Problems</a:t>
            </a:r>
            <a:endParaRPr/>
          </a:p>
        </p:txBody>
      </p:sp>
      <p:sp>
        <p:nvSpPr>
          <p:cNvPr id="305" name="Google Shape;305;p50"/>
          <p:cNvSpPr txBox="1"/>
          <p:nvPr>
            <p:ph idx="1" type="body"/>
          </p:nvPr>
        </p:nvSpPr>
        <p:spPr>
          <a:xfrm>
            <a:off x="311700" y="936325"/>
            <a:ext cx="85206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Requires a lot more data than regular k-Fold CV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Only k scores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Allows only for very limited statistical significance testing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Ideas how to produce more performance measurements?</a:t>
            </a:r>
            <a:endParaRPr/>
          </a:p>
        </p:txBody>
      </p:sp>
      <p:sp>
        <p:nvSpPr>
          <p:cNvPr id="311" name="Google Shape;311;p51"/>
          <p:cNvSpPr txBox="1"/>
          <p:nvPr>
            <p:ph idx="1" type="body"/>
          </p:nvPr>
        </p:nvSpPr>
        <p:spPr>
          <a:xfrm>
            <a:off x="311700" y="936325"/>
            <a:ext cx="85206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Bootstrap (applied to ML context)</a:t>
            </a:r>
            <a:endParaRPr/>
          </a:p>
        </p:txBody>
      </p:sp>
      <p:sp>
        <p:nvSpPr>
          <p:cNvPr id="317" name="Google Shape;317;p52"/>
          <p:cNvSpPr txBox="1"/>
          <p:nvPr>
            <p:ph idx="1" type="body"/>
          </p:nvPr>
        </p:nvSpPr>
        <p:spPr>
          <a:xfrm>
            <a:off x="311700" y="936325"/>
            <a:ext cx="85206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(Many variations, this is just one of them)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Repeated train-test split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Using resampling with replacement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N times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Resampling with replacement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Items are randomly selected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But put back in the sample space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The same item can be picked multiple times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Bootstrap (applied to ML context)</a:t>
            </a:r>
            <a:endParaRPr/>
          </a:p>
        </p:txBody>
      </p:sp>
      <p:sp>
        <p:nvSpPr>
          <p:cNvPr id="323" name="Google Shape;323;p53"/>
          <p:cNvSpPr txBox="1"/>
          <p:nvPr>
            <p:ph idx="1" type="body"/>
          </p:nvPr>
        </p:nvSpPr>
        <p:spPr>
          <a:xfrm>
            <a:off x="311700" y="936325"/>
            <a:ext cx="85206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Produces N scores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Works well for small datasets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Allows some </a:t>
            </a:r>
            <a:r>
              <a:rPr lang="en-GB"/>
              <a:t>statistical significance testing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Bootstrap (applied to ML context) - Problems</a:t>
            </a:r>
            <a:endParaRPr/>
          </a:p>
        </p:txBody>
      </p:sp>
      <p:sp>
        <p:nvSpPr>
          <p:cNvPr id="329" name="Google Shape;329;p54"/>
          <p:cNvSpPr txBox="1"/>
          <p:nvPr>
            <p:ph idx="1" type="body"/>
          </p:nvPr>
        </p:nvSpPr>
        <p:spPr>
          <a:xfrm>
            <a:off x="311700" y="936325"/>
            <a:ext cx="85206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Computationally expensive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Allows only for limited statistical significance testing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Notes on Statistical Significance Testing</a:t>
            </a:r>
            <a:endParaRPr/>
          </a:p>
        </p:txBody>
      </p:sp>
      <p:sp>
        <p:nvSpPr>
          <p:cNvPr id="335" name="Google Shape;335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We have a null hypothesis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E.g. H0 = Model A performs better than Model 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We want a p-value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Probability that we see our H0 true on our data by chance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Significance != Effect size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Parametric Tests</a:t>
            </a:r>
            <a:endParaRPr/>
          </a:p>
        </p:txBody>
      </p:sp>
      <p:sp>
        <p:nvSpPr>
          <p:cNvPr id="341" name="Google Shape;341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</a:t>
            </a:r>
            <a:r>
              <a:rPr lang="en-GB"/>
              <a:t>tudent's</a:t>
            </a:r>
            <a:r>
              <a:rPr lang="en-GB"/>
              <a:t> t-test, z-test, wald-test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Parametric Tests - Student’s t-test - Assumptions</a:t>
            </a:r>
            <a:endParaRPr/>
          </a:p>
        </p:txBody>
      </p:sp>
      <p:sp>
        <p:nvSpPr>
          <p:cNvPr id="347" name="Google Shape;347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Student's t-test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Values come from normal distribution (do they?)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Values have similar variance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Values are independent (are they?)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Parametric Tests - Student’s t-test (don'ts)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Student's t-test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Model comparison example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K scores from each model (e.g. from k-fold CV)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Treat each as random collection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Parametric Tests - Student’s t-test (do)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Pairwise</a:t>
            </a:r>
            <a:r>
              <a:rPr lang="en-GB"/>
              <a:t> Student's t-test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Model comparison example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K scores from each model (e.g. from k-fold CV)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Test for normal distribution first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Tests the difference of those K scores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Be honest on the downsides and issues using student’s t-test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Evaluate effect size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Non-Parametric Tests</a:t>
            </a:r>
            <a:endParaRPr/>
          </a:p>
        </p:txBody>
      </p:sp>
      <p:sp>
        <p:nvSpPr>
          <p:cNvPr id="365" name="Google Shape;365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Sampling free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Sign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Wilcoxon signed rank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M</a:t>
            </a:r>
            <a:r>
              <a:rPr lang="en-GB"/>
              <a:t>ann-Whitney u-test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Little statistical “power” but easy and cheap to apply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Sampling based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(paired) Bootstrap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Randomization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Stronger, but computationally expensive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Take away message</a:t>
            </a:r>
            <a:endParaRPr/>
          </a:p>
        </p:txBody>
      </p:sp>
      <p:sp>
        <p:nvSpPr>
          <p:cNvPr id="371" name="Google Shape;371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Use at least k-fold CV unless you have a huge test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Be aware of information leakage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Use time series splits whenever your data contains causal effects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Random repetition does not increase the statistical power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Use student’s t-test with caution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Try Bootstrap if theres little data (small data set)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There is no one golden bullet for statistical signifiance testing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